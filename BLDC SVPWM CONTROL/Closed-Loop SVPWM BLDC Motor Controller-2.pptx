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 Light" charset="1" panose="00000400000000000000"/>
      <p:regular r:id="rId21"/>
    </p:embeddedFont>
    <p:embeddedFont>
      <p:font typeface="Canva Sans" charset="1" panose="020B0503030501040103"/>
      <p:regular r:id="rId22"/>
    </p:embeddedFont>
    <p:embeddedFont>
      <p:font typeface="Poppins Medium" charset="1" panose="00000600000000000000"/>
      <p:regular r:id="rId23"/>
    </p:embeddedFont>
    <p:embeddedFont>
      <p:font typeface="Canva Sans Bold" charset="1" panose="020B0803030501040103"/>
      <p:regular r:id="rId24"/>
    </p:embeddedFont>
    <p:embeddedFont>
      <p:font typeface="Poppins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t.com/resource/en/datasheet/stm32f446re.pdf" TargetMode="External" Type="http://schemas.openxmlformats.org/officeDocument/2006/relationships/hyperlink"/><Relationship Id="rId3" Target="https://www.infineon.com/part/IR2110" TargetMode="External" Type="http://schemas.openxmlformats.org/officeDocument/2006/relationships/hyperlink"/><Relationship Id="rId4" Target="https://www.infineon.com/part/IRFZ44N" TargetMode="External" Type="http://schemas.openxmlformats.org/officeDocument/2006/relationships/hyperlink"/><Relationship Id="rId5" Target="https://www.mathworks.com/help/simscape-electrical/" TargetMode="External" Type="http://schemas.openxmlformats.org/officeDocument/2006/relationships/hyperlink"/><Relationship Id="rId6" Target="https://www.mathworks.com/help/mcb/gs/space-vector-pwm.html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2685" y="2966685"/>
            <a:ext cx="15586615" cy="272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5"/>
              </a:lnSpc>
              <a:spcBef>
                <a:spcPct val="0"/>
              </a:spcBef>
            </a:pPr>
            <a:r>
              <a:rPr lang="en-US" b="true" sz="7604" spc="-45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CLOSED-LOOP  SVPWM</a:t>
            </a:r>
          </a:p>
          <a:p>
            <a:pPr algn="ctr" marL="0" indent="0" lvl="0">
              <a:lnSpc>
                <a:spcPts val="10645"/>
              </a:lnSpc>
              <a:spcBef>
                <a:spcPct val="0"/>
              </a:spcBef>
            </a:pPr>
            <a:r>
              <a:rPr lang="en-US" b="true" sz="7604" spc="-45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BLDC MOTOR CONTROLLER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4438190"/>
            <a:ext cx="16230600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807246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3"/>
                </a:lnTo>
                <a:lnTo>
                  <a:pt x="0" y="186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787606" y="2352325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896286" y="2352325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86331" y="8521870"/>
            <a:ext cx="7915337" cy="869991"/>
            <a:chOff x="0" y="0"/>
            <a:chExt cx="6254094" cy="687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54094" cy="687400"/>
            </a:xfrm>
            <a:custGeom>
              <a:avLst/>
              <a:gdLst/>
              <a:ahLst/>
              <a:cxnLst/>
              <a:rect r="r" b="b" t="t" l="l"/>
              <a:pathLst>
                <a:path h="687400" w="6254094">
                  <a:moveTo>
                    <a:pt x="0" y="0"/>
                  </a:moveTo>
                  <a:lnTo>
                    <a:pt x="6254094" y="0"/>
                  </a:lnTo>
                  <a:lnTo>
                    <a:pt x="6254094" y="687400"/>
                  </a:lnTo>
                  <a:lnTo>
                    <a:pt x="0" y="687400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254094" cy="7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891748" y="8755233"/>
            <a:ext cx="6504503" cy="25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4"/>
              </a:lnSpc>
              <a:spcBef>
                <a:spcPct val="0"/>
              </a:spcBef>
            </a:pPr>
            <a:r>
              <a:rPr lang="en-US" sz="148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SVPWM GENERATION   |   Embedded Systems  |   Automation  |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01784" y="1063093"/>
            <a:ext cx="212228" cy="208777"/>
          </a:xfrm>
          <a:custGeom>
            <a:avLst/>
            <a:gdLst/>
            <a:ahLst/>
            <a:cxnLst/>
            <a:rect r="r" b="b" t="t" l="l"/>
            <a:pathLst>
              <a:path h="208777" w="212228">
                <a:moveTo>
                  <a:pt x="0" y="0"/>
                </a:moveTo>
                <a:lnTo>
                  <a:pt x="212228" y="0"/>
                </a:lnTo>
                <a:lnTo>
                  <a:pt x="212228" y="208777"/>
                </a:lnTo>
                <a:lnTo>
                  <a:pt x="0" y="20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049500" y="7967662"/>
            <a:ext cx="10209800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115300" y="7715250"/>
            <a:ext cx="3778125" cy="514350"/>
            <a:chOff x="0" y="0"/>
            <a:chExt cx="2985185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5185" cy="406400"/>
            </a:xfrm>
            <a:custGeom>
              <a:avLst/>
              <a:gdLst/>
              <a:ahLst/>
              <a:cxnLst/>
              <a:rect r="r" b="b" t="t" l="l"/>
              <a:pathLst>
                <a:path h="406400" w="2985185">
                  <a:moveTo>
                    <a:pt x="0" y="0"/>
                  </a:moveTo>
                  <a:lnTo>
                    <a:pt x="2985185" y="0"/>
                  </a:lnTo>
                  <a:lnTo>
                    <a:pt x="298518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8518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028700" y="3581276"/>
            <a:ext cx="6057900" cy="1562224"/>
            <a:chOff x="0" y="0"/>
            <a:chExt cx="4786489" cy="1234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86489" cy="1234350"/>
            </a:xfrm>
            <a:custGeom>
              <a:avLst/>
              <a:gdLst/>
              <a:ahLst/>
              <a:cxnLst/>
              <a:rect r="r" b="b" t="t" l="l"/>
              <a:pathLst>
                <a:path h="1234350" w="4786489">
                  <a:moveTo>
                    <a:pt x="0" y="0"/>
                  </a:moveTo>
                  <a:lnTo>
                    <a:pt x="4786489" y="0"/>
                  </a:lnTo>
                  <a:lnTo>
                    <a:pt x="4786489" y="1234350"/>
                  </a:lnTo>
                  <a:lnTo>
                    <a:pt x="0" y="1234350"/>
                  </a:lnTo>
                  <a:close/>
                </a:path>
              </a:pathLst>
            </a:custGeom>
            <a:gradFill rotWithShape="true">
              <a:gsLst>
                <a:gs pos="0">
                  <a:srgbClr val="C3DCEC">
                    <a:alpha val="100000"/>
                  </a:srgbClr>
                </a:gs>
                <a:gs pos="50000">
                  <a:srgbClr val="FFFFFF">
                    <a:alpha val="19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786489" cy="127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02539"/>
            <a:ext cx="6057900" cy="4155761"/>
            <a:chOff x="0" y="0"/>
            <a:chExt cx="938527" cy="6438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8527" cy="643836"/>
            </a:xfrm>
            <a:custGeom>
              <a:avLst/>
              <a:gdLst/>
              <a:ahLst/>
              <a:cxnLst/>
              <a:rect r="r" b="b" t="t" l="l"/>
              <a:pathLst>
                <a:path h="643836" w="938527">
                  <a:moveTo>
                    <a:pt x="0" y="0"/>
                  </a:moveTo>
                  <a:lnTo>
                    <a:pt x="938527" y="0"/>
                  </a:lnTo>
                  <a:lnTo>
                    <a:pt x="938527" y="643836"/>
                  </a:lnTo>
                  <a:lnTo>
                    <a:pt x="0" y="643836"/>
                  </a:lnTo>
                  <a:close/>
                </a:path>
              </a:pathLst>
            </a:custGeom>
            <a:blipFill>
              <a:blip r:embed="rId3"/>
              <a:stretch>
                <a:fillRect l="0" t="-382" r="0" b="-382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6655192" y="1028700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6057900" cy="2552576"/>
            <a:chOff x="0" y="0"/>
            <a:chExt cx="4786489" cy="2016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86489" cy="2016850"/>
            </a:xfrm>
            <a:custGeom>
              <a:avLst/>
              <a:gdLst/>
              <a:ahLst/>
              <a:cxnLst/>
              <a:rect r="r" b="b" t="t" l="l"/>
              <a:pathLst>
                <a:path h="2016850" w="4786489">
                  <a:moveTo>
                    <a:pt x="0" y="0"/>
                  </a:moveTo>
                  <a:lnTo>
                    <a:pt x="4786489" y="0"/>
                  </a:lnTo>
                  <a:lnTo>
                    <a:pt x="4786489" y="2016850"/>
                  </a:lnTo>
                  <a:lnTo>
                    <a:pt x="0" y="2016850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786489" cy="205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361065" y="971550"/>
            <a:ext cx="2088891" cy="6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4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SVPWM BLDC Controller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15300" y="4954995"/>
            <a:ext cx="9144000" cy="216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61"/>
              </a:lnSpc>
            </a:pPr>
            <a:r>
              <a:rPr lang="en-US" b="true" sz="8735" spc="-87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SENSORLESS ROTOR ESTIMATION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15300" y="7780972"/>
            <a:ext cx="3778125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b="true" sz="1798" spc="-4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Hall Sensors Required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9021" y="8769985"/>
            <a:ext cx="4720279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Rotor position and velocity are inferred in real time from back-EMF signals, eliminating physical sensors and reducing system complexity.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15300" y="2785584"/>
            <a:ext cx="321135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BACK-EMF 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3092961"/>
            <a:ext cx="3211357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Zero-crossing detection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Phase voltage sensing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03224" y="2785584"/>
            <a:ext cx="2901273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OBSERVER-BASED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03224" y="3092961"/>
            <a:ext cx="2901273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Sliding mode observer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Real-time estimation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54200" y="2789993"/>
            <a:ext cx="295786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NOISE FILTERING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54200" y="3097370"/>
            <a:ext cx="2957869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Low-pass filter stage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Debounce &amp; hysteresis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70155" y="1892818"/>
            <a:ext cx="377499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STARTUP STRATEGY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70155" y="2200194"/>
            <a:ext cx="377499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Open-loop forced commutation at startup transitions to closed-loop sensorless control once sufficient back-EMF is established.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9918" y="652738"/>
            <a:ext cx="3393666" cy="514350"/>
            <a:chOff x="0" y="0"/>
            <a:chExt cx="268141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1415" cy="406400"/>
            </a:xfrm>
            <a:custGeom>
              <a:avLst/>
              <a:gdLst/>
              <a:ahLst/>
              <a:cxnLst/>
              <a:rect r="r" b="b" t="t" l="l"/>
              <a:pathLst>
                <a:path h="406400" w="2681415">
                  <a:moveTo>
                    <a:pt x="0" y="0"/>
                  </a:moveTo>
                  <a:lnTo>
                    <a:pt x="2681415" y="0"/>
                  </a:lnTo>
                  <a:lnTo>
                    <a:pt x="268141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8141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6896286" y="1269794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88235" y="4049446"/>
            <a:ext cx="10943525" cy="5783406"/>
            <a:chOff x="0" y="0"/>
            <a:chExt cx="8646735" cy="4569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46736" cy="4569605"/>
            </a:xfrm>
            <a:custGeom>
              <a:avLst/>
              <a:gdLst/>
              <a:ahLst/>
              <a:cxnLst/>
              <a:rect r="r" b="b" t="t" l="l"/>
              <a:pathLst>
                <a:path h="4569605" w="8646736">
                  <a:moveTo>
                    <a:pt x="0" y="0"/>
                  </a:moveTo>
                  <a:lnTo>
                    <a:pt x="8646736" y="0"/>
                  </a:lnTo>
                  <a:lnTo>
                    <a:pt x="8646736" y="4569605"/>
                  </a:lnTo>
                  <a:lnTo>
                    <a:pt x="0" y="4569605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46735" cy="4607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53772" y="9197340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9907609" y="9417368"/>
            <a:ext cx="665141" cy="134238"/>
          </a:xfrm>
          <a:custGeom>
            <a:avLst/>
            <a:gdLst/>
            <a:ahLst/>
            <a:cxnLst/>
            <a:rect r="r" b="b" t="t" l="l"/>
            <a:pathLst>
              <a:path h="134238" w="665141">
                <a:moveTo>
                  <a:pt x="0" y="0"/>
                </a:moveTo>
                <a:lnTo>
                  <a:pt x="665141" y="0"/>
                </a:lnTo>
                <a:lnTo>
                  <a:pt x="665141" y="134237"/>
                </a:lnTo>
                <a:lnTo>
                  <a:pt x="0" y="13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64482" y="1580714"/>
            <a:ext cx="3694226" cy="7802908"/>
          </a:xfrm>
          <a:custGeom>
            <a:avLst/>
            <a:gdLst/>
            <a:ahLst/>
            <a:cxnLst/>
            <a:rect r="r" b="b" t="t" l="l"/>
            <a:pathLst>
              <a:path h="7802908" w="3694226">
                <a:moveTo>
                  <a:pt x="0" y="0"/>
                </a:moveTo>
                <a:lnTo>
                  <a:pt x="3694226" y="0"/>
                </a:lnTo>
                <a:lnTo>
                  <a:pt x="3694226" y="7802908"/>
                </a:lnTo>
                <a:lnTo>
                  <a:pt x="0" y="78029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44" t="0" r="-894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830687"/>
            <a:ext cx="9544050" cy="301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CLOSED-LOOP</a:t>
            </a:r>
          </a:p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SENSORLESS BLDC</a:t>
            </a:r>
          </a:p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MOTOR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29918" y="756521"/>
            <a:ext cx="3393666" cy="25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0"/>
              </a:lnSpc>
              <a:spcBef>
                <a:spcPct val="0"/>
              </a:spcBef>
            </a:pPr>
            <a:r>
              <a:rPr lang="en-US" b="true" sz="1421" spc="-35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SVPWM-Based Inverter Control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181" y="4115251"/>
            <a:ext cx="8218876" cy="51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8"/>
              </a:lnSpc>
              <a:spcBef>
                <a:spcPct val="0"/>
              </a:spcBef>
            </a:pPr>
            <a:r>
              <a:rPr lang="en-US" b="true" sz="2955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181" y="4730271"/>
            <a:ext cx="6098160" cy="498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Develop a sensorless BLDC motor controller.</a:t>
            </a:r>
          </a:p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Generate 3-phase excitation using a discrete MOSFET inverter.</a:t>
            </a:r>
          </a:p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Implement SVPWM for efficient motor control.</a:t>
            </a:r>
          </a:p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Detect rotor position using Back-EMF zero-crossing.</a:t>
            </a:r>
          </a:p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Maintain target RPM using a PI speed controller.</a:t>
            </a:r>
          </a:p>
          <a:p>
            <a:pPr algn="l" marL="473524" indent="-236762" lvl="1">
              <a:lnSpc>
                <a:spcPts val="3070"/>
              </a:lnSpc>
              <a:buFont typeface="Arial"/>
              <a:buChar char="•"/>
            </a:pPr>
            <a:r>
              <a:rPr lang="en-US" sz="219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Validate the design using a MATLAB/Simulink digital twin.</a:t>
            </a:r>
          </a:p>
          <a:p>
            <a:pPr algn="l" marL="0" indent="0" lvl="0">
              <a:lnSpc>
                <a:spcPts val="307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678441" y="951350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030875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787606" y="5694168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6896286" y="8242449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8232" y="2053898"/>
            <a:ext cx="12464676" cy="7941958"/>
          </a:xfrm>
          <a:custGeom>
            <a:avLst/>
            <a:gdLst/>
            <a:ahLst/>
            <a:cxnLst/>
            <a:rect r="r" b="b" t="t" l="l"/>
            <a:pathLst>
              <a:path h="7941958" w="12464676">
                <a:moveTo>
                  <a:pt x="0" y="0"/>
                </a:moveTo>
                <a:lnTo>
                  <a:pt x="12464676" y="0"/>
                </a:lnTo>
                <a:lnTo>
                  <a:pt x="12464676" y="7941957"/>
                </a:lnTo>
                <a:lnTo>
                  <a:pt x="0" y="79419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23" r="0" b="-234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7259" y="411348"/>
            <a:ext cx="14875148" cy="142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93"/>
              </a:lnSpc>
            </a:pPr>
            <a:r>
              <a:rPr lang="en-US" b="true" sz="10770" spc="-107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SYSTEM   ARCHITECTURE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06273"/>
            <a:ext cx="3639431" cy="28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5"/>
              </a:lnSpc>
              <a:spcBef>
                <a:spcPct val="0"/>
              </a:spcBef>
            </a:pPr>
            <a:r>
              <a:rPr lang="en-US" b="true" sz="1575" spc="-39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Control System Structure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25049" y="2701870"/>
            <a:ext cx="4860718" cy="47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2"/>
              </a:lnSpc>
              <a:spcBef>
                <a:spcPct val="0"/>
              </a:spcBef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closed-loop architecture integrates a sensorless back-EMF observer with cascaded speed and current controllers, driving the three-phase inverter via Space Vector PWM modulation.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69861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3"/>
                </a:lnTo>
                <a:lnTo>
                  <a:pt x="0" y="186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6850" y="998969"/>
            <a:ext cx="4341626" cy="695475"/>
            <a:chOff x="0" y="0"/>
            <a:chExt cx="3430420" cy="5495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0420" cy="549511"/>
            </a:xfrm>
            <a:custGeom>
              <a:avLst/>
              <a:gdLst/>
              <a:ahLst/>
              <a:cxnLst/>
              <a:rect r="r" b="b" t="t" l="l"/>
              <a:pathLst>
                <a:path h="549511" w="3430420">
                  <a:moveTo>
                    <a:pt x="0" y="0"/>
                  </a:moveTo>
                  <a:lnTo>
                    <a:pt x="3430420" y="0"/>
                  </a:lnTo>
                  <a:lnTo>
                    <a:pt x="3430420" y="549511"/>
                  </a:lnTo>
                  <a:lnTo>
                    <a:pt x="0" y="549511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0420" cy="587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566850" y="1859186"/>
          <a:ext cx="5657850" cy="6286500"/>
        </p:xfrm>
        <a:graphic>
          <a:graphicData uri="http://schemas.openxmlformats.org/presentationml/2006/ole">
            <p:oleObj imgW="6908800" imgH="754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600" y="1166049"/>
            <a:ext cx="32497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E6AE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Components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7189805" y="967740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75801" y="9030875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9968642" y="9136380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23602" y="1330754"/>
            <a:ext cx="6788038" cy="9185218"/>
          </a:xfrm>
          <a:custGeom>
            <a:avLst/>
            <a:gdLst/>
            <a:ahLst/>
            <a:cxnLst/>
            <a:rect r="r" b="b" t="t" l="l"/>
            <a:pathLst>
              <a:path h="9185218" w="6788038">
                <a:moveTo>
                  <a:pt x="0" y="0"/>
                </a:moveTo>
                <a:lnTo>
                  <a:pt x="6788038" y="0"/>
                </a:lnTo>
                <a:lnTo>
                  <a:pt x="6788038" y="9185218"/>
                </a:lnTo>
                <a:lnTo>
                  <a:pt x="0" y="9185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24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123" y="433507"/>
            <a:ext cx="17143753" cy="139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47"/>
              </a:lnSpc>
            </a:pPr>
            <a:r>
              <a:rPr lang="en-US" b="true" sz="10608" spc="-106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SYSTEM  WORKING  PRINCIPLE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366596" y="2381135"/>
            <a:ext cx="10275219" cy="629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 V DC supply powers the DC bus and 3-phase inverter.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 kΩ potentiometer sets the desired motor speed.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MCU reads the speed command and motor feedback.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 controller compares target RPM with actual RPM and generates the control command.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SVPWM converts the control command into six PWM gate signals.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IR2110 drivers amplify the PWM signals for MOSFET gate driving.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Six IRFZ44N MOSFETs form the 3-phase inverter and drive the A2212 BLDC motor.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rotating motor generates Back-EMF on the floating phase.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Voltage dividers scale the Back-EMF signals for safe MCU ADC measurement.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MCU detects Back-EMF zero-crossings to estimate rotor position without Hall sensors.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feedback is used by the PI controller to maintain the desired RPM.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16×2 LCD displays the target and actual motor speed.</a:t>
            </a:r>
          </a:p>
          <a:p>
            <a:pPr algn="ctr" marL="430857" indent="-215428" lvl="1">
              <a:lnSpc>
                <a:spcPts val="2793"/>
              </a:lnSpc>
              <a:spcBef>
                <a:spcPct val="0"/>
              </a:spcBef>
              <a:buFont typeface="Arial"/>
              <a:buChar char="•"/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 Flow:</a:t>
            </a:r>
          </a:p>
          <a:p>
            <a:pPr algn="ctr">
              <a:lnSpc>
                <a:spcPts val="2793"/>
              </a:lnSpc>
              <a:spcBef>
                <a:spcPct val="0"/>
              </a:spcBef>
            </a:pPr>
            <a:r>
              <a:rPr lang="en-US" sz="19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Target RPM → MCU (PI + SVPWM) → IR2110 → MOSFET Inverter → BLDC Motor → Back-EMF → MCU Feedback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4508"/>
            <a:ext cx="11294520" cy="255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57"/>
              </a:lnSpc>
            </a:pPr>
            <a:r>
              <a:rPr lang="en-US" b="true" sz="10396" spc="-10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  <a:p>
            <a:pPr algn="l" marL="0" indent="0" lvl="0">
              <a:lnSpc>
                <a:spcPts val="9357"/>
              </a:lnSpc>
            </a:pPr>
            <a:r>
              <a:rPr lang="en-US" b="true" sz="10396" spc="-10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RESULTS &amp;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063746" y="7702999"/>
            <a:ext cx="2154387" cy="514350"/>
            <a:chOff x="0" y="0"/>
            <a:chExt cx="170223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02232" cy="406400"/>
            </a:xfrm>
            <a:custGeom>
              <a:avLst/>
              <a:gdLst/>
              <a:ahLst/>
              <a:cxnLst/>
              <a:rect r="r" b="b" t="t" l="l"/>
              <a:pathLst>
                <a:path h="406400" w="1702232">
                  <a:moveTo>
                    <a:pt x="0" y="0"/>
                  </a:moveTo>
                  <a:lnTo>
                    <a:pt x="1702232" y="0"/>
                  </a:lnTo>
                  <a:lnTo>
                    <a:pt x="1702232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0223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028700" y="6944598"/>
            <a:ext cx="16230600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5400000">
            <a:off x="1461841" y="4391123"/>
            <a:ext cx="2120334" cy="2986616"/>
            <a:chOff x="0" y="0"/>
            <a:chExt cx="1675326" cy="23597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5325" cy="2359795"/>
            </a:xfrm>
            <a:custGeom>
              <a:avLst/>
              <a:gdLst/>
              <a:ahLst/>
              <a:cxnLst/>
              <a:rect r="r" b="b" t="t" l="l"/>
              <a:pathLst>
                <a:path h="2359795" w="1675325">
                  <a:moveTo>
                    <a:pt x="0" y="0"/>
                  </a:moveTo>
                  <a:lnTo>
                    <a:pt x="1675325" y="0"/>
                  </a:lnTo>
                  <a:lnTo>
                    <a:pt x="1675325" y="2359795"/>
                  </a:lnTo>
                  <a:lnTo>
                    <a:pt x="0" y="2359795"/>
                  </a:lnTo>
                  <a:close/>
                </a:path>
              </a:pathLst>
            </a:custGeom>
            <a:gradFill rotWithShape="true">
              <a:gsLst>
                <a:gs pos="0">
                  <a:srgbClr val="C3DCEC">
                    <a:alpha val="100000"/>
                  </a:srgbClr>
                </a:gs>
                <a:gs pos="50000">
                  <a:srgbClr val="FFFFFF">
                    <a:alpha val="19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75326" cy="2397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00500" y="4824264"/>
            <a:ext cx="4629150" cy="4434036"/>
            <a:chOff x="0" y="0"/>
            <a:chExt cx="717176" cy="6869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7176" cy="686948"/>
            </a:xfrm>
            <a:custGeom>
              <a:avLst/>
              <a:gdLst/>
              <a:ahLst/>
              <a:cxnLst/>
              <a:rect r="r" b="b" t="t" l="l"/>
              <a:pathLst>
                <a:path h="686948" w="717176">
                  <a:moveTo>
                    <a:pt x="0" y="0"/>
                  </a:moveTo>
                  <a:lnTo>
                    <a:pt x="717176" y="0"/>
                  </a:lnTo>
                  <a:lnTo>
                    <a:pt x="717176" y="686948"/>
                  </a:lnTo>
                  <a:lnTo>
                    <a:pt x="0" y="686948"/>
                  </a:lnTo>
                  <a:close/>
                </a:path>
              </a:pathLst>
            </a:custGeom>
            <a:blipFill>
              <a:blip r:embed="rId2"/>
              <a:stretch>
                <a:fillRect l="-214" t="0" r="-214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9030875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787606" y="5924619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6896286" y="8242449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63746" y="7768722"/>
            <a:ext cx="2154387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4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465" y="8932564"/>
            <a:ext cx="2049272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4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Cloudlet 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8350" y="4769712"/>
            <a:ext cx="3486150" cy="23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b="true" sz="1311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TAKEAWAYS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8350" y="5208557"/>
            <a:ext cx="7600950" cy="114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Speed tracking accuracy within ±1.5% across full operating range via closed-loop PI control.</a:t>
            </a:r>
          </a:p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Phase current THD below 4.2%, confirming high-quality SVPWM modulation output.</a:t>
            </a:r>
          </a:p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Transient step response settles within 18ms with no overshoot beyond 6% of setpoint.</a:t>
            </a:r>
          </a:p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Efficiency of 94.3% achieved at rated load with stable thermal performance.</a:t>
            </a:r>
          </a:p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Sensorless back-EMF estimation maintains rotor lock above 8% of rated speed.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63746" y="990600"/>
            <a:ext cx="3195554" cy="114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sz="131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Closed-loop SVPWM BLDC controller demonstrates robust sensorless performance across all tested operating conditions and speed ranges.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8350" y="7709947"/>
            <a:ext cx="3046424" cy="23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5"/>
              </a:lnSpc>
              <a:spcBef>
                <a:spcPct val="0"/>
              </a:spcBef>
            </a:pPr>
            <a:r>
              <a:rPr lang="en-US" b="true" sz="1311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REQUEST TECHNICAL 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8350" y="8244112"/>
            <a:ext cx="3117363" cy="69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5"/>
              </a:lnSpc>
            </a:pPr>
            <a:r>
              <a:rPr lang="en-US" sz="13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+123-456-7890</a:t>
            </a:r>
          </a:p>
          <a:p>
            <a:pPr algn="l" marL="0" indent="0" lvl="0">
              <a:lnSpc>
                <a:spcPts val="1835"/>
              </a:lnSpc>
            </a:pPr>
            <a:r>
              <a:rPr lang="en-US" sz="13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@engineering.review</a:t>
            </a:r>
          </a:p>
          <a:p>
            <a:pPr algn="l" marL="0" indent="0" lvl="0">
              <a:lnSpc>
                <a:spcPts val="1835"/>
              </a:lnSpc>
            </a:pPr>
            <a:r>
              <a:rPr lang="en-US" sz="13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051304"/>
            <a:ext cx="3393666" cy="514350"/>
            <a:chOff x="0" y="0"/>
            <a:chExt cx="268141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1415" cy="406400"/>
            </a:xfrm>
            <a:custGeom>
              <a:avLst/>
              <a:gdLst/>
              <a:ahLst/>
              <a:cxnLst/>
              <a:rect r="r" b="b" t="t" l="l"/>
              <a:pathLst>
                <a:path h="406400" w="2681415">
                  <a:moveTo>
                    <a:pt x="0" y="0"/>
                  </a:moveTo>
                  <a:lnTo>
                    <a:pt x="2681415" y="0"/>
                  </a:lnTo>
                  <a:lnTo>
                    <a:pt x="268141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8141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819855" y="2804199"/>
            <a:ext cx="4192341" cy="6686550"/>
            <a:chOff x="0" y="0"/>
            <a:chExt cx="3312467" cy="528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2467" cy="5283200"/>
            </a:xfrm>
            <a:custGeom>
              <a:avLst/>
              <a:gdLst/>
              <a:ahLst/>
              <a:cxnLst/>
              <a:rect r="r" b="b" t="t" l="l"/>
              <a:pathLst>
                <a:path h="5283200" w="3312467">
                  <a:moveTo>
                    <a:pt x="0" y="0"/>
                  </a:moveTo>
                  <a:lnTo>
                    <a:pt x="3312467" y="0"/>
                  </a:lnTo>
                  <a:lnTo>
                    <a:pt x="3312467" y="5283200"/>
                  </a:lnTo>
                  <a:lnTo>
                    <a:pt x="0" y="5283200"/>
                  </a:lnTo>
                  <a:close/>
                </a:path>
              </a:pathLst>
            </a:custGeom>
            <a:gradFill rotWithShape="true">
              <a:gsLst>
                <a:gs pos="0">
                  <a:srgbClr val="C3DCEC">
                    <a:alpha val="100000"/>
                  </a:srgbClr>
                </a:gs>
                <a:gs pos="50000">
                  <a:srgbClr val="FFFFFF">
                    <a:alpha val="19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12467" cy="532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5782473"/>
            <a:ext cx="16230600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572750" y="1028700"/>
            <a:ext cx="5143500" cy="6347179"/>
            <a:chOff x="0" y="0"/>
            <a:chExt cx="796863" cy="983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6863" cy="983344"/>
            </a:xfrm>
            <a:custGeom>
              <a:avLst/>
              <a:gdLst/>
              <a:ahLst/>
              <a:cxnLst/>
              <a:rect r="r" b="b" t="t" l="l"/>
              <a:pathLst>
                <a:path h="983344" w="796863">
                  <a:moveTo>
                    <a:pt x="0" y="0"/>
                  </a:moveTo>
                  <a:lnTo>
                    <a:pt x="796863" y="0"/>
                  </a:lnTo>
                  <a:lnTo>
                    <a:pt x="796863" y="983344"/>
                  </a:lnTo>
                  <a:lnTo>
                    <a:pt x="0" y="983344"/>
                  </a:lnTo>
                  <a:close/>
                </a:path>
              </a:pathLst>
            </a:custGeom>
            <a:blipFill>
              <a:blip r:embed="rId2"/>
              <a:stretch>
                <a:fillRect l="0" t="-332" r="0" b="-33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6896286" y="1269794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451066" y="6508113"/>
            <a:ext cx="5121684" cy="1735532"/>
            <a:chOff x="0" y="0"/>
            <a:chExt cx="4046762" cy="13712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6762" cy="1371285"/>
            </a:xfrm>
            <a:custGeom>
              <a:avLst/>
              <a:gdLst/>
              <a:ahLst/>
              <a:cxnLst/>
              <a:rect r="r" b="b" t="t" l="l"/>
              <a:pathLst>
                <a:path h="1371285" w="4046762">
                  <a:moveTo>
                    <a:pt x="0" y="0"/>
                  </a:moveTo>
                  <a:lnTo>
                    <a:pt x="4046762" y="0"/>
                  </a:lnTo>
                  <a:lnTo>
                    <a:pt x="4046762" y="1371285"/>
                  </a:lnTo>
                  <a:lnTo>
                    <a:pt x="0" y="1371285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46762" cy="1409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475801" y="9030875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9968642" y="9136380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30687"/>
            <a:ext cx="9544050" cy="301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FIRMWARE</a:t>
            </a:r>
          </a:p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EXECUTION</a:t>
            </a:r>
          </a:p>
          <a:p>
            <a:pPr algn="l" marL="0" indent="0" lvl="0">
              <a:lnSpc>
                <a:spcPts val="7559"/>
              </a:lnSpc>
            </a:pPr>
            <a:r>
              <a:rPr lang="en-US" b="true" sz="8399" spc="-8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117027"/>
            <a:ext cx="3393666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4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Embedded Real-Time Control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51066" y="4279895"/>
            <a:ext cx="3578634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control firmware executes in a deterministic interrupt-driven loop, synchronized to the PWM carrier period, ensuring precise timing for ADC sampling, transform computation, and register updates.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479538"/>
            <a:ext cx="442236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ISR TIMING &amp; ADC ACQUISITION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786915"/>
            <a:ext cx="4422366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PWM period-synchronized ISR trigger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Center-aligned ADC sampling at PWM trough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Dual-channel simultaneous phase current capture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215070"/>
            <a:ext cx="442236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CLARKE / PARK TRANSFORMS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522447"/>
            <a:ext cx="4422366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Ia, Ib → Iα, Iβ via Clarke transform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Iα, Iβ → Id, Iq via Park (rotor angle θ)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Fixed-point Q15 arithmetic for speed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43658" y="6963783"/>
            <a:ext cx="33365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 CONTROLLERS &amp; PWM UPDATE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43658" y="7271160"/>
            <a:ext cx="33365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Independent d-axis and q-axis PI loops with anti-windup; Vd, Vq → SVPWM duty registers updated each cycle.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21566" y="8932564"/>
            <a:ext cx="2049272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4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CloudletTech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896286" y="8242449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78627" y="2901253"/>
            <a:ext cx="8809373" cy="4442877"/>
            <a:chOff x="0" y="0"/>
            <a:chExt cx="1569278" cy="7914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9278" cy="791442"/>
            </a:xfrm>
            <a:custGeom>
              <a:avLst/>
              <a:gdLst/>
              <a:ahLst/>
              <a:cxnLst/>
              <a:rect r="r" b="b" t="t" l="l"/>
              <a:pathLst>
                <a:path h="791442" w="1569278">
                  <a:moveTo>
                    <a:pt x="0" y="0"/>
                  </a:moveTo>
                  <a:lnTo>
                    <a:pt x="1569278" y="0"/>
                  </a:lnTo>
                  <a:lnTo>
                    <a:pt x="1569278" y="791442"/>
                  </a:lnTo>
                  <a:lnTo>
                    <a:pt x="0" y="791442"/>
                  </a:lnTo>
                  <a:close/>
                </a:path>
              </a:pathLst>
            </a:custGeom>
            <a:blipFill>
              <a:blip r:embed="rId4"/>
              <a:stretch>
                <a:fillRect l="0" t="-499" r="0" b="-49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42936" y="2790862"/>
            <a:ext cx="8824470" cy="5311228"/>
          </a:xfrm>
          <a:custGeom>
            <a:avLst/>
            <a:gdLst/>
            <a:ahLst/>
            <a:cxnLst/>
            <a:rect r="r" b="b" t="t" l="l"/>
            <a:pathLst>
              <a:path h="5311228" w="8824470">
                <a:moveTo>
                  <a:pt x="0" y="0"/>
                </a:moveTo>
                <a:lnTo>
                  <a:pt x="8824470" y="0"/>
                </a:lnTo>
                <a:lnTo>
                  <a:pt x="8824470" y="5311227"/>
                </a:lnTo>
                <a:lnTo>
                  <a:pt x="0" y="5311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0237" y="458583"/>
            <a:ext cx="17467526" cy="152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26"/>
              </a:lnSpc>
            </a:pPr>
            <a:r>
              <a:rPr lang="en-US" b="true" sz="11474" spc="-114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SIMULATION &amp;VERIFICATION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6827" y="1850130"/>
            <a:ext cx="2866910" cy="669585"/>
            <a:chOff x="0" y="0"/>
            <a:chExt cx="2265213" cy="529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5213" cy="529055"/>
            </a:xfrm>
            <a:custGeom>
              <a:avLst/>
              <a:gdLst/>
              <a:ahLst/>
              <a:cxnLst/>
              <a:rect r="r" b="b" t="t" l="l"/>
              <a:pathLst>
                <a:path h="529055" w="2265213">
                  <a:moveTo>
                    <a:pt x="0" y="0"/>
                  </a:moveTo>
                  <a:lnTo>
                    <a:pt x="2265213" y="0"/>
                  </a:lnTo>
                  <a:lnTo>
                    <a:pt x="2265213" y="529055"/>
                  </a:lnTo>
                  <a:lnTo>
                    <a:pt x="0" y="529055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65213" cy="567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78627" y="1833929"/>
            <a:ext cx="3405129" cy="643574"/>
            <a:chOff x="0" y="0"/>
            <a:chExt cx="2690472" cy="5085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90472" cy="508503"/>
            </a:xfrm>
            <a:custGeom>
              <a:avLst/>
              <a:gdLst/>
              <a:ahLst/>
              <a:cxnLst/>
              <a:rect r="r" b="b" t="t" l="l"/>
              <a:pathLst>
                <a:path h="508503" w="2690472">
                  <a:moveTo>
                    <a:pt x="0" y="0"/>
                  </a:moveTo>
                  <a:lnTo>
                    <a:pt x="2690472" y="0"/>
                  </a:lnTo>
                  <a:lnTo>
                    <a:pt x="2690472" y="508503"/>
                  </a:lnTo>
                  <a:lnTo>
                    <a:pt x="0" y="508503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690472" cy="546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76953" y="8424203"/>
            <a:ext cx="7437752" cy="115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4"/>
              </a:lnSpc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 1 - Simulink closed-loop model verified</a:t>
            </a:r>
          </a:p>
          <a:p>
            <a:pPr algn="l" marL="0" indent="0" lvl="0">
              <a:lnSpc>
                <a:spcPts val="2284"/>
              </a:lnSpc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 2 - Gate drive signals confirmed on scope</a:t>
            </a:r>
          </a:p>
          <a:p>
            <a:pPr algn="l" marL="0" indent="0" lvl="0">
              <a:lnSpc>
                <a:spcPts val="2284"/>
              </a:lnSpc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 3 - Sensorless startup achieved at no-load</a:t>
            </a:r>
          </a:p>
          <a:p>
            <a:pPr algn="l" marL="0" indent="0" lvl="0">
              <a:lnSpc>
                <a:spcPts val="2284"/>
              </a:lnSpc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Stage 4 - Speed &amp; load step response validated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3395" y="1878209"/>
            <a:ext cx="3486150" cy="5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Closed-loop SVPWM model</a:t>
            </a:r>
          </a:p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Sensorless observer simulation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29946" y="1878209"/>
            <a:ext cx="3486150" cy="507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PWM switching patterns</a:t>
            </a:r>
          </a:p>
          <a:p>
            <a:pPr algn="l" marL="0" indent="0" lvl="0">
              <a:lnSpc>
                <a:spcPts val="1958"/>
              </a:lnSpc>
            </a:pPr>
            <a:r>
              <a:rPr lang="en-US" sz="13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Dead-time compensation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6953" y="2029528"/>
            <a:ext cx="3855526" cy="27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6"/>
              </a:lnSpc>
              <a:spcBef>
                <a:spcPct val="0"/>
              </a:spcBef>
            </a:pPr>
            <a:r>
              <a:rPr lang="en-US" b="true" sz="1547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MATLAB/SIMULINK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8627" y="1933255"/>
            <a:ext cx="4137536" cy="29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4"/>
              </a:lnSpc>
              <a:spcBef>
                <a:spcPct val="0"/>
              </a:spcBef>
            </a:pPr>
            <a:r>
              <a:rPr lang="en-US" b="true" sz="166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SVPWM </a:t>
            </a:r>
            <a:r>
              <a:rPr lang="en-US" b="true" sz="166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SIGNAL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3185" y="5438476"/>
            <a:ext cx="3778125" cy="514350"/>
            <a:chOff x="0" y="0"/>
            <a:chExt cx="298518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5185" cy="406400"/>
            </a:xfrm>
            <a:custGeom>
              <a:avLst/>
              <a:gdLst/>
              <a:ahLst/>
              <a:cxnLst/>
              <a:rect r="r" b="b" t="t" l="l"/>
              <a:pathLst>
                <a:path h="406400" w="2985185">
                  <a:moveTo>
                    <a:pt x="0" y="0"/>
                  </a:moveTo>
                  <a:lnTo>
                    <a:pt x="2985185" y="0"/>
                  </a:lnTo>
                  <a:lnTo>
                    <a:pt x="298518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8518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030875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2"/>
                </a:lnTo>
                <a:lnTo>
                  <a:pt x="0" y="18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561598" y="7348388"/>
            <a:ext cx="2552436" cy="1909912"/>
            <a:chOff x="0" y="0"/>
            <a:chExt cx="2016740" cy="15090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6740" cy="1509066"/>
            </a:xfrm>
            <a:custGeom>
              <a:avLst/>
              <a:gdLst/>
              <a:ahLst/>
              <a:cxnLst/>
              <a:rect r="r" b="b" t="t" l="l"/>
              <a:pathLst>
                <a:path h="1509066" w="2016740">
                  <a:moveTo>
                    <a:pt x="0" y="0"/>
                  </a:moveTo>
                  <a:lnTo>
                    <a:pt x="2016740" y="0"/>
                  </a:lnTo>
                  <a:lnTo>
                    <a:pt x="2016740" y="1509066"/>
                  </a:lnTo>
                  <a:lnTo>
                    <a:pt x="0" y="1509066"/>
                  </a:lnTo>
                  <a:close/>
                </a:path>
              </a:pathLst>
            </a:custGeom>
            <a:gradFill rotWithShape="true">
              <a:gsLst>
                <a:gs pos="0">
                  <a:srgbClr val="C3DCEC">
                    <a:alpha val="100000"/>
                  </a:srgbClr>
                </a:gs>
                <a:gs pos="50000">
                  <a:srgbClr val="FFFFFF">
                    <a:alpha val="19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6740" cy="1547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9162" y="1028700"/>
            <a:ext cx="5104872" cy="6835387"/>
            <a:chOff x="0" y="0"/>
            <a:chExt cx="790878" cy="10589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0878" cy="1058980"/>
            </a:xfrm>
            <a:custGeom>
              <a:avLst/>
              <a:gdLst/>
              <a:ahLst/>
              <a:cxnLst/>
              <a:rect r="r" b="b" t="t" l="l"/>
              <a:pathLst>
                <a:path h="1058980" w="790878">
                  <a:moveTo>
                    <a:pt x="0" y="0"/>
                  </a:moveTo>
                  <a:lnTo>
                    <a:pt x="790878" y="0"/>
                  </a:lnTo>
                  <a:lnTo>
                    <a:pt x="790878" y="1058980"/>
                  </a:lnTo>
                  <a:lnTo>
                    <a:pt x="0" y="1058980"/>
                  </a:lnTo>
                  <a:close/>
                </a:path>
              </a:pathLst>
            </a:custGeom>
            <a:blipFill>
              <a:blip r:embed="rId4"/>
              <a:stretch>
                <a:fillRect l="0" t="-38" r="0" b="-3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914260" y="1028700"/>
            <a:ext cx="9345040" cy="1435735"/>
            <a:chOff x="0" y="0"/>
            <a:chExt cx="7383736" cy="11344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83735" cy="1134408"/>
            </a:xfrm>
            <a:custGeom>
              <a:avLst/>
              <a:gdLst/>
              <a:ahLst/>
              <a:cxnLst/>
              <a:rect r="r" b="b" t="t" l="l"/>
              <a:pathLst>
                <a:path h="1134408" w="7383735">
                  <a:moveTo>
                    <a:pt x="0" y="0"/>
                  </a:moveTo>
                  <a:lnTo>
                    <a:pt x="7383735" y="0"/>
                  </a:lnTo>
                  <a:lnTo>
                    <a:pt x="7383735" y="1134408"/>
                  </a:lnTo>
                  <a:lnTo>
                    <a:pt x="0" y="1134408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383736" cy="1172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6712093" y="1685608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953187" y="5438476"/>
            <a:ext cx="2715224" cy="3819824"/>
            <a:chOff x="0" y="0"/>
            <a:chExt cx="2145362" cy="30181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5362" cy="3018133"/>
            </a:xfrm>
            <a:custGeom>
              <a:avLst/>
              <a:gdLst/>
              <a:ahLst/>
              <a:cxnLst/>
              <a:rect r="r" b="b" t="t" l="l"/>
              <a:pathLst>
                <a:path h="3018133" w="2145362">
                  <a:moveTo>
                    <a:pt x="0" y="0"/>
                  </a:moveTo>
                  <a:lnTo>
                    <a:pt x="2145362" y="0"/>
                  </a:lnTo>
                  <a:lnTo>
                    <a:pt x="2145362" y="3018133"/>
                  </a:lnTo>
                  <a:lnTo>
                    <a:pt x="0" y="3018133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45362" cy="3056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10800000">
            <a:off x="16655192" y="5634691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743185" y="6604149"/>
            <a:ext cx="7099471" cy="211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0"/>
              </a:lnSpc>
            </a:pPr>
            <a:r>
              <a:rPr lang="en-US" b="true" sz="8578" spc="-85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KEY TECHNICAL</a:t>
            </a:r>
          </a:p>
          <a:p>
            <a:pPr algn="l" marL="0" indent="0" lvl="0">
              <a:lnSpc>
                <a:spcPts val="7720"/>
              </a:lnSpc>
            </a:pPr>
            <a:r>
              <a:rPr lang="en-US" b="true" sz="8578" spc="-85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80711" y="5504198"/>
            <a:ext cx="4503072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4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Sensorless SVPWM BLDC Control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4465" y="8932564"/>
            <a:ext cx="2049272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4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Cloudlet Tech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28346" y="1611948"/>
            <a:ext cx="8530954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Closed-loop sensorless control delivers precision, efficiency, and robustness without mechanical sensing hardware.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Development Milestones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Phase 1 - Power stage design and inverter layout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Phase 2 - Back-EMF observer implementation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Phase 3 - Closed-loop PI controller tuning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Phase 4 - SVPWM validation and system integration</a:t>
            </a:r>
          </a:p>
          <a:p>
            <a:pPr algn="l" marL="0" indent="0" lvl="0">
              <a:lnSpc>
                <a:spcPts val="167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914260" y="3539359"/>
            <a:ext cx="28289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SENSORLESS OPERATION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14260" y="3846736"/>
            <a:ext cx="2828925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No Hall sensors required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Back-EMF estimation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Reduced BOM cost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37235" y="3539359"/>
            <a:ext cx="27840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 EFFICIENCY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37235" y="3846736"/>
            <a:ext cx="278407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SVPWM minimizes THD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Optimal voltage utilization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56962" y="3539359"/>
            <a:ext cx="272736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INDUSTRIAL SCALABILITY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56962" y="3846736"/>
            <a:ext cx="2727366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Fault-aware protection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Adaptable to load profiles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04627" y="6193305"/>
            <a:ext cx="1212344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 DESIGN</a:t>
            </a:r>
          </a:p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C72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04627" y="6748332"/>
            <a:ext cx="1901039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Dynamic speed regulation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Reduced hardware complexity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Fault-aware operation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Closed-loop precision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5851"/>
            <a:ext cx="12115800" cy="223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6"/>
              </a:lnSpc>
            </a:pPr>
            <a:r>
              <a:rPr lang="en-US" b="true" sz="9029" spc="-9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  <a:p>
            <a:pPr algn="l" marL="0" indent="0" lvl="0">
              <a:lnSpc>
                <a:spcPts val="8126"/>
              </a:lnSpc>
            </a:pPr>
            <a:r>
              <a:rPr lang="en-US" b="true" sz="9029" spc="-90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&amp;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67571" y="5897365"/>
            <a:ext cx="4676929" cy="1663737"/>
            <a:chOff x="0" y="0"/>
            <a:chExt cx="3695351" cy="13145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95351" cy="1314557"/>
            </a:xfrm>
            <a:custGeom>
              <a:avLst/>
              <a:gdLst/>
              <a:ahLst/>
              <a:cxnLst/>
              <a:rect r="r" b="b" t="t" l="l"/>
              <a:pathLst>
                <a:path h="1314557" w="3695351">
                  <a:moveTo>
                    <a:pt x="0" y="0"/>
                  </a:moveTo>
                  <a:lnTo>
                    <a:pt x="3695351" y="0"/>
                  </a:lnTo>
                  <a:lnTo>
                    <a:pt x="3695351" y="1314557"/>
                  </a:lnTo>
                  <a:lnTo>
                    <a:pt x="0" y="1314557"/>
                  </a:lnTo>
                  <a:close/>
                </a:path>
              </a:pathLst>
            </a:custGeom>
            <a:gradFill rotWithShape="true">
              <a:gsLst>
                <a:gs pos="0">
                  <a:srgbClr val="C3DCEC">
                    <a:alpha val="100000"/>
                  </a:srgbClr>
                </a:gs>
                <a:gs pos="50000">
                  <a:srgbClr val="FFFFFF">
                    <a:alpha val="195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95351" cy="1352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141720"/>
            <a:ext cx="3778125" cy="514350"/>
            <a:chOff x="0" y="0"/>
            <a:chExt cx="298518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85185" cy="406400"/>
            </a:xfrm>
            <a:custGeom>
              <a:avLst/>
              <a:gdLst/>
              <a:ahLst/>
              <a:cxnLst/>
              <a:rect r="r" b="b" t="t" l="l"/>
              <a:pathLst>
                <a:path h="406400" w="2985185">
                  <a:moveTo>
                    <a:pt x="0" y="0"/>
                  </a:moveTo>
                  <a:lnTo>
                    <a:pt x="2985185" y="0"/>
                  </a:lnTo>
                  <a:lnTo>
                    <a:pt x="298518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8518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1028700" y="2643822"/>
            <a:ext cx="16230600" cy="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467571" y="1028700"/>
            <a:ext cx="4676929" cy="5113020"/>
            <a:chOff x="0" y="0"/>
            <a:chExt cx="724579" cy="7921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4579" cy="792141"/>
            </a:xfrm>
            <a:custGeom>
              <a:avLst/>
              <a:gdLst/>
              <a:ahLst/>
              <a:cxnLst/>
              <a:rect r="r" b="b" t="t" l="l"/>
              <a:pathLst>
                <a:path h="792141" w="724579">
                  <a:moveTo>
                    <a:pt x="0" y="0"/>
                  </a:moveTo>
                  <a:lnTo>
                    <a:pt x="724579" y="0"/>
                  </a:lnTo>
                  <a:lnTo>
                    <a:pt x="724579" y="792141"/>
                  </a:lnTo>
                  <a:lnTo>
                    <a:pt x="0" y="792141"/>
                  </a:lnTo>
                  <a:close/>
                </a:path>
              </a:pathLst>
            </a:custGeom>
            <a:blipFill>
              <a:blip r:embed="rId2"/>
              <a:stretch>
                <a:fillRect l="-562" t="0" r="-562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498606" y="1069861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7" y="0"/>
                </a:lnTo>
                <a:lnTo>
                  <a:pt x="183607" y="186283"/>
                </a:lnTo>
                <a:lnTo>
                  <a:pt x="0" y="1862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028700" y="1028700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7075857" y="6293056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677285"/>
            <a:ext cx="6410171" cy="1435735"/>
            <a:chOff x="0" y="0"/>
            <a:chExt cx="5064826" cy="11344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64827" cy="1134408"/>
            </a:xfrm>
            <a:custGeom>
              <a:avLst/>
              <a:gdLst/>
              <a:ahLst/>
              <a:cxnLst/>
              <a:rect r="r" b="b" t="t" l="l"/>
              <a:pathLst>
                <a:path h="1134408" w="5064827">
                  <a:moveTo>
                    <a:pt x="0" y="0"/>
                  </a:moveTo>
                  <a:lnTo>
                    <a:pt x="5064827" y="0"/>
                  </a:lnTo>
                  <a:lnTo>
                    <a:pt x="5064827" y="1134408"/>
                  </a:lnTo>
                  <a:lnTo>
                    <a:pt x="0" y="1134408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64826" cy="1172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207443"/>
            <a:ext cx="3778125" cy="32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4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Engineering Motivation &amp; Goals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44370" y="971550"/>
            <a:ext cx="2049272" cy="6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8" spc="-4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SVPWM BLDC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0754" y="3556635"/>
            <a:ext cx="5310985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Hall-effect sensors introduce mechanical fragility, thermal drift, and added cost in BLDC motor systems — demanding a robust sensorless alternative.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2583" y="4106844"/>
            <a:ext cx="34861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2583" y="4414221"/>
            <a:ext cx="6393847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Hall sensors fail at high temperatures and vibration, reducing system reliability in industrial environments.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73200" y="3643947"/>
            <a:ext cx="3086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SENSOR LIMITATIONS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73200" y="3954556"/>
            <a:ext cx="3086100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Thermal sensitivity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Mechanical misalignment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Added BOM cost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73200" y="5331543"/>
            <a:ext cx="3086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CONTROL OBJECTIVES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73200" y="5638920"/>
            <a:ext cx="30861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Closed-loop speed regulation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Back-EMF position estimation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3200" y="6765410"/>
            <a:ext cx="3086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SVPWM GOALS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73200" y="7072787"/>
            <a:ext cx="30861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Reduced torque ripple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Improved DC bus utilization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73200" y="8199276"/>
            <a:ext cx="30861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 TARGETS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73200" y="8506653"/>
            <a:ext cx="360045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±2% steady-state speed accuracy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Embedded MCU implementation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54938" y="3294941"/>
            <a:ext cx="3778125" cy="514350"/>
            <a:chOff x="0" y="0"/>
            <a:chExt cx="298518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5185" cy="406400"/>
            </a:xfrm>
            <a:custGeom>
              <a:avLst/>
              <a:gdLst/>
              <a:ahLst/>
              <a:cxnLst/>
              <a:rect r="r" b="b" t="t" l="l"/>
              <a:pathLst>
                <a:path h="406400" w="2985185">
                  <a:moveTo>
                    <a:pt x="0" y="0"/>
                  </a:moveTo>
                  <a:lnTo>
                    <a:pt x="2985185" y="0"/>
                  </a:lnTo>
                  <a:lnTo>
                    <a:pt x="298518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0E4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8518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809291"/>
            <a:ext cx="3600450" cy="5449009"/>
            <a:chOff x="0" y="0"/>
            <a:chExt cx="557804" cy="8441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7804" cy="844194"/>
            </a:xfrm>
            <a:custGeom>
              <a:avLst/>
              <a:gdLst/>
              <a:ahLst/>
              <a:cxnLst/>
              <a:rect r="r" b="b" t="t" l="l"/>
              <a:pathLst>
                <a:path h="844194" w="557804">
                  <a:moveTo>
                    <a:pt x="0" y="0"/>
                  </a:moveTo>
                  <a:lnTo>
                    <a:pt x="557804" y="0"/>
                  </a:lnTo>
                  <a:lnTo>
                    <a:pt x="557804" y="844194"/>
                  </a:lnTo>
                  <a:lnTo>
                    <a:pt x="0" y="844194"/>
                  </a:lnTo>
                  <a:close/>
                </a:path>
              </a:pathLst>
            </a:custGeom>
            <a:blipFill>
              <a:blip r:embed="rId2"/>
              <a:stretch>
                <a:fillRect l="-699" t="0" r="-699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5454312" y="1028700"/>
            <a:ext cx="0" cy="401193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3658850" y="3809291"/>
            <a:ext cx="3600450" cy="5449009"/>
            <a:chOff x="0" y="0"/>
            <a:chExt cx="557804" cy="8441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7804" cy="844194"/>
            </a:xfrm>
            <a:custGeom>
              <a:avLst/>
              <a:gdLst/>
              <a:ahLst/>
              <a:cxnLst/>
              <a:rect r="r" b="b" t="t" l="l"/>
              <a:pathLst>
                <a:path h="844194" w="557804">
                  <a:moveTo>
                    <a:pt x="0" y="0"/>
                  </a:moveTo>
                  <a:lnTo>
                    <a:pt x="557804" y="0"/>
                  </a:lnTo>
                  <a:lnTo>
                    <a:pt x="557804" y="844194"/>
                  </a:lnTo>
                  <a:lnTo>
                    <a:pt x="0" y="844194"/>
                  </a:lnTo>
                  <a:close/>
                </a:path>
              </a:pathLst>
            </a:custGeom>
            <a:blipFill>
              <a:blip r:embed="rId3"/>
              <a:stretch>
                <a:fillRect l="-699" t="0" r="-699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267633" y="9030856"/>
            <a:ext cx="183608" cy="186282"/>
          </a:xfrm>
          <a:custGeom>
            <a:avLst/>
            <a:gdLst/>
            <a:ahLst/>
            <a:cxnLst/>
            <a:rect r="r" b="b" t="t" l="l"/>
            <a:pathLst>
              <a:path h="186282" w="183608">
                <a:moveTo>
                  <a:pt x="0" y="0"/>
                </a:moveTo>
                <a:lnTo>
                  <a:pt x="183608" y="0"/>
                </a:lnTo>
                <a:lnTo>
                  <a:pt x="183608" y="186283"/>
                </a:lnTo>
                <a:lnTo>
                  <a:pt x="0" y="186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115050" y="7350871"/>
            <a:ext cx="6057900" cy="867299"/>
            <a:chOff x="0" y="0"/>
            <a:chExt cx="4786489" cy="685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86489" cy="685273"/>
            </a:xfrm>
            <a:custGeom>
              <a:avLst/>
              <a:gdLst/>
              <a:ahLst/>
              <a:cxnLst/>
              <a:rect r="r" b="b" t="t" l="l"/>
              <a:pathLst>
                <a:path h="685273" w="4786489">
                  <a:moveTo>
                    <a:pt x="0" y="0"/>
                  </a:moveTo>
                  <a:lnTo>
                    <a:pt x="4786489" y="0"/>
                  </a:lnTo>
                  <a:lnTo>
                    <a:pt x="4786489" y="685273"/>
                  </a:lnTo>
                  <a:lnTo>
                    <a:pt x="0" y="685273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786489" cy="72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787606" y="1269794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16896286" y="1269794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2824163" y="1028700"/>
            <a:ext cx="0" cy="4011930"/>
          </a:xfrm>
          <a:prstGeom prst="line">
            <a:avLst/>
          </a:prstGeom>
          <a:ln cap="flat" w="95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5227320" y="930316"/>
            <a:ext cx="7833360" cy="202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11"/>
              </a:lnSpc>
            </a:pPr>
            <a:r>
              <a:rPr lang="en-US" b="true" sz="8235" spc="-8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POWER STAGE</a:t>
            </a:r>
          </a:p>
          <a:p>
            <a:pPr algn="ctr" marL="0" indent="0" lvl="0">
              <a:lnSpc>
                <a:spcPts val="7411"/>
              </a:lnSpc>
            </a:pPr>
            <a:r>
              <a:rPr lang="en-US" b="true" sz="8235" spc="-82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4938" y="3370188"/>
            <a:ext cx="3778125" cy="25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37"/>
              </a:lnSpc>
            </a:pPr>
            <a:r>
              <a:rPr lang="en-US" b="true" sz="1384" spc="-34">
                <a:solidFill>
                  <a:srgbClr val="010F1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Three-Phase Inverter &amp; Embedded Execution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3398" y="8942070"/>
            <a:ext cx="2340653" cy="25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37"/>
              </a:lnSpc>
              <a:spcBef>
                <a:spcPct val="0"/>
              </a:spcBef>
            </a:pPr>
            <a:r>
              <a:rPr lang="en-US" sz="1384" spc="-3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Cloudlet Tech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57850" y="4552241"/>
            <a:ext cx="6972300" cy="65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power stage integrates a three-phase MOSFET bridge with isolated gate drivers, DC-link capacitance, and real-time microcontroller execution for precise SVPWM switching.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94775" y="5783580"/>
            <a:ext cx="3449225" cy="21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  <a:spcBef>
                <a:spcPct val="0"/>
              </a:spcBef>
            </a:pPr>
            <a:r>
              <a:rPr lang="en-US" b="true" sz="1281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INVERTER &amp; GATE DRIVER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94775" y="6090957"/>
            <a:ext cx="3449225" cy="65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Six N-channel MOSFETs | Bootstrap gate drivers | Dead-time insertion | DC-link bulk capacitor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83725" y="5783580"/>
            <a:ext cx="2897817" cy="215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  <a:spcBef>
                <a:spcPct val="0"/>
              </a:spcBef>
            </a:pPr>
            <a:r>
              <a:rPr lang="en-US" b="true" sz="1281">
                <a:solidFill>
                  <a:srgbClr val="A0E4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MCU &amp; PROTECTION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83725" y="6090957"/>
            <a:ext cx="2897817" cy="65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PWM timer peripherals | Overcurrent shutdown | Under-voltage lockout | Thermal monitoring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0142" y="7526039"/>
            <a:ext cx="4687715" cy="43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94"/>
              </a:lnSpc>
            </a:pPr>
            <a:r>
              <a:rPr lang="en-US" sz="128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Switching frequency of 20 kHz with hardware fault latching ensures safe and efficient motor drive operation.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98345"/>
            <a:ext cx="10081900" cy="4705326"/>
            <a:chOff x="0" y="0"/>
            <a:chExt cx="7965946" cy="37177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65946" cy="3717788"/>
            </a:xfrm>
            <a:custGeom>
              <a:avLst/>
              <a:gdLst/>
              <a:ahLst/>
              <a:cxnLst/>
              <a:rect r="r" b="b" t="t" l="l"/>
              <a:pathLst>
                <a:path h="3717788" w="7965946">
                  <a:moveTo>
                    <a:pt x="0" y="0"/>
                  </a:moveTo>
                  <a:lnTo>
                    <a:pt x="7965946" y="0"/>
                  </a:lnTo>
                  <a:lnTo>
                    <a:pt x="7965946" y="3717788"/>
                  </a:lnTo>
                  <a:lnTo>
                    <a:pt x="0" y="3717788"/>
                  </a:lnTo>
                  <a:close/>
                </a:path>
              </a:pathLst>
            </a:custGeom>
            <a:solidFill>
              <a:srgbClr val="010F1E"/>
            </a:solidFill>
            <a:ln w="952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65946" cy="3755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61791" y="375988"/>
            <a:ext cx="7099471" cy="116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9"/>
              </a:lnSpc>
            </a:pPr>
            <a:r>
              <a:rPr lang="en-US" b="true" sz="8699" spc="-86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6115" y="2402398"/>
            <a:ext cx="9796390" cy="401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REFERENCES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STMicroel</a:t>
            </a: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ectronics — STM32F446RE Datasheet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2" tooltip="https://www.st.com/resource/en/datasheet/stm32f446re.pdf"/>
              </a:rPr>
              <a:t>https://www.st.com/resource/en/datasheet/stm32f446re.pdf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Infineon — IR2110 Gate Driver Datasheet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3" tooltip="https://www.infineon.com/part/IR2110"/>
              </a:rPr>
              <a:t>https://www.infineon.com/part/IR2110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Infineon — IRFZ44N MOSFET Datasheet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4" tooltip="https://www.infineon.com/part/IRFZ44N"/>
              </a:rPr>
              <a:t>https://www.infineon.com/part/IRFZ44N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MathWorks — Simscape Electrical Documentation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5" tooltip="https://www.mathworks.com/help/simscape-electrical/"/>
              </a:rPr>
              <a:t>https://www.mathworks.com/help/simscape-electrical/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MathWorks — Space Vector PWM</a:t>
            </a:r>
          </a:p>
          <a:p>
            <a:pPr algn="l" marL="414292" indent="-207146" lvl="1">
              <a:lnSpc>
                <a:spcPts val="2686"/>
              </a:lnSpc>
              <a:buFont typeface="Arial"/>
              <a:buChar char="•"/>
            </a:pPr>
            <a:r>
              <a:rPr lang="en-US" sz="1918" u="sng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  <a:hlinkClick r:id="rId6" tooltip="https://www.mathworks.com/help/mcb/gs/space-vector-pwm.html"/>
              </a:rPr>
              <a:t>https://www.mathworks.com/help/mcb/gs/space-vector-pwm.html</a:t>
            </a:r>
          </a:p>
          <a:p>
            <a:pPr algn="l" marL="0" indent="0" lvl="0">
              <a:lnSpc>
                <a:spcPts val="268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94508"/>
            <a:ext cx="11294520" cy="255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57"/>
              </a:lnSpc>
            </a:pPr>
            <a:r>
              <a:rPr lang="en-US" b="true" sz="10396" spc="-10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PROJECT</a:t>
            </a:r>
          </a:p>
          <a:p>
            <a:pPr algn="l" marL="0" indent="0" lvl="0">
              <a:lnSpc>
                <a:spcPts val="9357"/>
              </a:lnSpc>
            </a:pPr>
            <a:r>
              <a:rPr lang="en-US" b="true" sz="10396" spc="-103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25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6896286" y="8242449"/>
            <a:ext cx="604108" cy="121920"/>
          </a:xfrm>
          <a:custGeom>
            <a:avLst/>
            <a:gdLst/>
            <a:ahLst/>
            <a:cxnLst/>
            <a:rect r="r" b="b" t="t" l="l"/>
            <a:pathLst>
              <a:path h="121920" w="604108">
                <a:moveTo>
                  <a:pt x="0" y="0"/>
                </a:moveTo>
                <a:lnTo>
                  <a:pt x="604108" y="0"/>
                </a:lnTo>
                <a:lnTo>
                  <a:pt x="604108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63746" y="1000125"/>
            <a:ext cx="319555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compact, fully integrated sensorless SVPWM BLDC controller — bridging estimation theory with real-time embedded motor control.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DAHUn1YDzwM</dc:identifier>
  <dcterms:modified xsi:type="dcterms:W3CDTF">2011-08-01T06:04:30Z</dcterms:modified>
  <cp:revision>1</cp:revision>
  <dc:title>Closed-Loop SVPWM BLDC Motor Controller</dc:title>
</cp:coreProperties>
</file>